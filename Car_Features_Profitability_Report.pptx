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Assistant"/>
      <p:regular r:id="rId19"/>
      <p:bold r:id="rId20"/>
    </p:embeddedFont>
    <p:embeddedFont>
      <p:font typeface="Merriweather Black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bold.fntdata"/><Relationship Id="rId11" Type="http://schemas.openxmlformats.org/officeDocument/2006/relationships/slide" Target="slides/slide7.xml"/><Relationship Id="rId22" Type="http://schemas.openxmlformats.org/officeDocument/2006/relationships/font" Target="fonts/MerriweatherBlack-boldItalic.fntdata"/><Relationship Id="rId10" Type="http://schemas.openxmlformats.org/officeDocument/2006/relationships/slide" Target="slides/slide6.xml"/><Relationship Id="rId21" Type="http://schemas.openxmlformats.org/officeDocument/2006/relationships/font" Target="fonts/MerriweatherBlack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ssistant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ccc5da7c26_0_4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ccc5da7c26_0_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8582" l="777" r="924" t="8582"/>
          <a:stretch/>
        </p:blipFill>
        <p:spPr>
          <a:xfrm rot="10800000">
            <a:off x="0" y="-1"/>
            <a:ext cx="915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hasCustomPrompt="1"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284000" y="1996144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3" type="subTitle"/>
          </p:nvPr>
        </p:nvSpPr>
        <p:spPr>
          <a:xfrm>
            <a:off x="1284000" y="2702169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Char char="●"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Char char="○"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Char char="■"/>
              <a:defRPr sz="62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" name="Google Shape;19;p3"/>
          <p:cNvGrpSpPr/>
          <p:nvPr/>
        </p:nvGrpSpPr>
        <p:grpSpPr>
          <a:xfrm>
            <a:off x="134844" y="-220831"/>
            <a:ext cx="8874295" cy="5585170"/>
            <a:chOff x="134844" y="-220831"/>
            <a:chExt cx="8874295" cy="5585170"/>
          </a:xfrm>
        </p:grpSpPr>
        <p:grpSp>
          <p:nvGrpSpPr>
            <p:cNvPr id="20" name="Google Shape;20;p3"/>
            <p:cNvGrpSpPr/>
            <p:nvPr/>
          </p:nvGrpSpPr>
          <p:grpSpPr>
            <a:xfrm flipH="1" rot="5400000">
              <a:off x="7704293" y="2343794"/>
              <a:ext cx="2153797" cy="455895"/>
              <a:chOff x="4630756" y="1700569"/>
              <a:chExt cx="2153797" cy="455895"/>
            </a:xfrm>
          </p:grpSpPr>
          <p:sp>
            <p:nvSpPr>
              <p:cNvPr id="21" name="Google Shape;21;p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" name="Google Shape;24;p3"/>
            <p:cNvGrpSpPr/>
            <p:nvPr/>
          </p:nvGrpSpPr>
          <p:grpSpPr>
            <a:xfrm flipH="1" rot="5400000">
              <a:off x="-714107" y="2343794"/>
              <a:ext cx="2153797" cy="455895"/>
              <a:chOff x="4630756" y="1700569"/>
              <a:chExt cx="2153797" cy="455895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flipH="1" rot="10800000">
              <a:off x="3495093" y="4908444"/>
              <a:ext cx="2153797" cy="455895"/>
              <a:chOff x="4630756" y="1700569"/>
              <a:chExt cx="2153797" cy="455895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 flipH="1" rot="10800000">
              <a:off x="3495093" y="-220831"/>
              <a:ext cx="2153797" cy="455895"/>
              <a:chOff x="4630756" y="1700569"/>
              <a:chExt cx="2153797" cy="455895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4663179" y="1732993"/>
                <a:ext cx="2090506" cy="390797"/>
              </a:xfrm>
              <a:custGeom>
                <a:rect b="b" l="l" r="r" t="t"/>
                <a:pathLst>
                  <a:path extrusionOk="0" h="893" w="4768">
                    <a:moveTo>
                      <a:pt x="4768" y="0"/>
                    </a:moveTo>
                    <a:lnTo>
                      <a:pt x="3535" y="0"/>
                    </a:lnTo>
                    <a:lnTo>
                      <a:pt x="2643" y="893"/>
                    </a:lnTo>
                    <a:lnTo>
                      <a:pt x="0" y="893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6721253" y="1700569"/>
                <a:ext cx="63300" cy="633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630756" y="2091364"/>
                <a:ext cx="65100" cy="651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5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7jRhCiintk51R5_DiXIbaXsccSyyjJvX1LQ9eHFfzJo/edit?gid=786786371#gid=786786371" TargetMode="External"/><Relationship Id="rId4" Type="http://schemas.openxmlformats.org/officeDocument/2006/relationships/hyperlink" Target="https://docs.google.com/spreadsheets/d/1qzMgzZLAcdLaAxglSVTeC0tjuch6cdkMiGGpRCnX2PI/edit?gid=2115472621#gid=2115472621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62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92240" y="0"/>
            <a:ext cx="54864" cy="51435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0" y="0"/>
            <a:ext cx="6217920" cy="64008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28016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457200" y="73152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Analyzing the Impact of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120700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 Features 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84708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Price &amp; Profitability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2651760"/>
            <a:ext cx="3657600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278892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full-pipeline analysis of 11,159 vehicle records across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features — from raw data ingestion to Excel dashboard.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703320"/>
            <a:ext cx="1325880" cy="25603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57200" y="3703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920240" y="3703320"/>
            <a:ext cx="1325880" cy="25603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920240" y="3703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383280" y="3703320"/>
            <a:ext cx="1325880" cy="25603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383280" y="370332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Contents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114300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57200" y="114300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94360" y="128016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4360" y="1280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51560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51560" y="15453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Dataset, objectives &amp; 11-step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57200" y="233172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94360" y="246888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94360" y="2468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51560" y="2441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51560" y="273405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 schema, cleaning, and Python preprocessing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352044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52044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4360" y="365760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9436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51560" y="36301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51560" y="392277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EDA visualizations and distribution insights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00600" y="114300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800600" y="114300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937760" y="128016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937760" y="12801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394960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394960" y="15453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analytical tasks answered with SQL &amp; Python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00600" y="233172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800600" y="233172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937760" y="246888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937760" y="2468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394960" y="2441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 &amp; Correlation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394960" y="273405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 importance, R², Pearson correlations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800600" y="3520440"/>
            <a:ext cx="4114800" cy="10058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800600" y="352044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937760" y="3657600"/>
            <a:ext cx="347472" cy="34747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93776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394960" y="36301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&amp;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394960" y="392277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Excel dashboard prep and final deliverables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OVERVIEW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1097280"/>
            <a:ext cx="1920240" cy="100584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594360" y="117043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11,159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94360" y="1680667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vehicle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514600" y="1097280"/>
            <a:ext cx="1920240" cy="100584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514600" y="1097280"/>
            <a:ext cx="54864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651760" y="117043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651760" y="1680667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feature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0" y="1097280"/>
            <a:ext cx="1920240" cy="100584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0" y="1097280"/>
            <a:ext cx="54864" cy="10058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709160" y="1170432"/>
            <a:ext cx="17373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09160" y="1680667"/>
            <a:ext cx="17373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car brands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629400" y="1097280"/>
            <a:ext cx="2057400" cy="100584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629400" y="1097280"/>
            <a:ext cx="54864" cy="100584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766560" y="1170432"/>
            <a:ext cx="187452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1990–2017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766560" y="1680667"/>
            <a:ext cx="187452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 year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974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731520" y="267919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Identify which car features most strongly predict MSRP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731520" y="309067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Analyse market category popularity and brand positioning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520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731520" y="350215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Quantify the relationship between engine power and 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931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31520" y="391363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Examine the impact of cylinders on fuel efficiency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434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731520" y="432511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an interactive Excel dashboard for stakeholders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54880" y="2240280"/>
            <a:ext cx="3931920" cy="265176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937760" y="23591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7249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5230368" y="2706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059168" y="27066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Schema, cleaning, EDA, insights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32278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5230368" y="32095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(pandas, sklearn)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059168" y="32095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Cleaning, visualization, 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37307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5230368" y="37124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(xlsxwriter)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059168" y="371246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Interactive 5-chart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42336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5230368" y="4215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 / Seaborn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059168" y="421538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15+ publication-quality charts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OVERVIEW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11-Step Analysis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11480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11480" y="1097280"/>
            <a:ext cx="1280160" cy="54864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11480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 Ingestion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Dataset.xlsx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691640" y="139903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764792" y="132588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801368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801368" y="1097280"/>
            <a:ext cx="1280160" cy="54864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801368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847088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Schema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847088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01_create_schema.sql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081528" y="139903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154680" y="132588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191256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191256" y="1097280"/>
            <a:ext cx="128016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191256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36976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Data Cleaning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236976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02_data_cleaning.sql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471416" y="139903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544568" y="132588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81144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581144" y="1097280"/>
            <a:ext cx="128016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81144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626864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Cleaning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626864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01_data_cleaning.py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861304" y="139903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934456" y="132588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971032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971032" y="1097280"/>
            <a:ext cx="12801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971032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016752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016752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 + Python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251192" y="139903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324344" y="132588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60920" y="109728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360920" y="1097280"/>
            <a:ext cx="12801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7360920" y="11887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406640" y="135331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406640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04_business_insights.sql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22960" y="210312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822960" y="2103120"/>
            <a:ext cx="1280160" cy="54864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2960" y="21945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C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97C2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68680" y="2359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68680" y="254203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03_regression_analysis.py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103120" y="240487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176272" y="233172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432304" y="210312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432304" y="2103120"/>
            <a:ext cx="1280160" cy="54864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432304" y="21945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C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97C2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478024" y="2359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478024" y="254203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04_market_segmentation.py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712464" y="240487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785616" y="233172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041648" y="210312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041648" y="2103120"/>
            <a:ext cx="128016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041648" y="21945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087368" y="2359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087368" y="254203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05_correlation_analysis.py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321808" y="240487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5394960" y="233172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650992" y="210312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650992" y="2103120"/>
            <a:ext cx="128016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650992" y="21945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696712" y="2359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Prep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696712" y="254203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06_dashboard_data_prep.py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931152" y="2404872"/>
            <a:ext cx="109728" cy="36576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004304" y="2331720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60336" y="2103120"/>
            <a:ext cx="1280160" cy="6400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260336" y="2103120"/>
            <a:ext cx="1280160" cy="54864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260336" y="21945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306056" y="23591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306056" y="254203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PDF Presentation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412480" y="1737360"/>
            <a:ext cx="36576" cy="45720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321040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3246120"/>
            <a:ext cx="2011680" cy="5486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91440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SQL 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606040" y="3246120"/>
            <a:ext cx="2011680" cy="5486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748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/>
          <p:nvPr/>
        </p:nvSpPr>
        <p:spPr>
          <a:xfrm>
            <a:off x="306324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Python Scripts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754880" y="3246120"/>
            <a:ext cx="2011680" cy="5486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521208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22+ Charts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903720" y="3246120"/>
            <a:ext cx="2011680" cy="5486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5160" y="3337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"/>
          <p:cNvSpPr/>
          <p:nvPr/>
        </p:nvSpPr>
        <p:spPr>
          <a:xfrm>
            <a:off x="736092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DATA PREP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PIPELINE (Steps 2–3)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57200" y="146304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21792" y="1554480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01_create_schema.sql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21792" y="1792224"/>
            <a:ext cx="37033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Creates car_features_raw (16 cols, all nullable) and car_features_clean (18 cols with constraints + derived columns). Indexes built after data load.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57200" y="288036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57200" y="2880360"/>
            <a:ext cx="54864" cy="12801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21792" y="2971800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02_data_cleaning.sql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21792" y="3209544"/>
            <a:ext cx="37033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Section A: Null audit, duplicate check, outlier detection. Section B: INSERT with all cleaning rules. Section C: Post-load stats. Section D: Build 7 indexes.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PIPELINE (Step 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754880" y="146304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919472" y="1554480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Null Imputation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919472" y="1792224"/>
            <a:ext cx="37033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engine_hp → median | engine_cylinders → mode (4) | number_of_doors → 4 | engine_fuel_type → 'unknown' | market_category → 'Unclassified'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4880" y="2880360"/>
            <a:ext cx="39319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754880" y="2880360"/>
            <a:ext cx="54864" cy="128016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919472" y="2971800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Deduplication &amp; Outliers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919472" y="3209544"/>
            <a:ext cx="37033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Removed duplicates on make+model+year+style. Capped MSRP ≤ $2M and HP ≤ 2,000 to exclude data-entry errors while preserving ultra-luxury cars.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57200" y="4251960"/>
            <a:ext cx="822960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57200" y="4343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Derived Columns: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828800" y="4315968"/>
            <a:ext cx="1600200" cy="256032"/>
          </a:xfrm>
          <a:prstGeom prst="rect">
            <a:avLst/>
          </a:prstGeom>
          <a:solidFill>
            <a:srgbClr val="E8F4F2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1828800" y="43159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mpg_avg: (highway + city) /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0" y="4315968"/>
            <a:ext cx="1600200" cy="256032"/>
          </a:xfrm>
          <a:prstGeom prst="rect">
            <a:avLst/>
          </a:prstGeom>
          <a:solidFill>
            <a:srgbClr val="E8F4F2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3657600" y="43159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log_msrp: ln(msrp)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0" y="4315968"/>
            <a:ext cx="1600200" cy="256032"/>
          </a:xfrm>
          <a:prstGeom prst="rect">
            <a:avLst/>
          </a:prstGeom>
          <a:solidFill>
            <a:srgbClr val="E8F4F2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486400" y="43159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hp_per_dollar: engine_hp / msrp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315200" y="4315968"/>
            <a:ext cx="1600200" cy="256032"/>
          </a:xfrm>
          <a:prstGeom prst="rect">
            <a:avLst/>
          </a:prstGeom>
          <a:solidFill>
            <a:srgbClr val="E8F4F2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7315200" y="431596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price_tier: 5 MSRP brackets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— EDA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0E9E8E">
              <a:alpha val="12156"/>
            </a:srgbClr>
          </a:solidFill>
          <a:ln cap="flat" cmpd="sng" w="1905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48640" y="11887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MSRP Distribution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48640" y="1481328"/>
            <a:ext cx="2468880" cy="274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48640" y="157276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Right-skewed; log scale reveals near-normal distribution. Budget &amp; Mid-Range dominate (68%).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F59E0B">
              <a:alpha val="12156"/>
            </a:srgbClr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337560" y="11887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Price by Body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337560" y="1481328"/>
            <a:ext cx="2468880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337560" y="157276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Convertibles avg ~$72k, Cargo Vans avg ~$32k. Premium body styles carry 2.2× the price premium.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8E44AD">
              <a:alpha val="12156"/>
            </a:srgbClr>
          </a:solidFill>
          <a:ln cap="flat" cmpd="sng" w="1905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6126480" y="11887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Fuel Type Breakdown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126480" y="1481328"/>
            <a:ext cx="2468880" cy="27432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126480" y="157276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Gasoline = 95% of models. Electric &amp; Flex-Fuel avg 2× the MSRP of gasoline vehicles.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0D1B2A">
              <a:alpha val="12156"/>
            </a:srgbClr>
          </a:solidFill>
          <a:ln cap="flat" cmpd="sng" w="1905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457200" y="2834640"/>
            <a:ext cx="2651760" cy="5486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548640" y="29260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Price Tier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48640" y="3218688"/>
            <a:ext cx="2468880" cy="274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48640" y="331012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Budget 23% · Mid-Range 45% · Premium 19% · Luxury 11% · Ultra-Luxury 2%. Broad market coverage.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27AE60">
              <a:alpha val="12156"/>
            </a:srgbClr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3246120" y="2834640"/>
            <a:ext cx="2651760" cy="54864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3337560" y="29260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MSRP Over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3337560" y="3218688"/>
            <a:ext cx="2468880" cy="2743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337560" y="331012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Avg MSRP rose 38% from 1990–2017 in real terms, with strongest growth in post-2005 models.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E97C2B">
              <a:alpha val="12156"/>
            </a:srgbClr>
          </a:solidFill>
          <a:ln cap="flat" cmpd="sng" w="1905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035040" y="2834640"/>
            <a:ext cx="2651760" cy="54864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6126480" y="29260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MPG Trend by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126480" y="3218688"/>
            <a:ext cx="2468880" cy="27432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6126480" y="331012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Compact leads consistently at 31+ mpg highway. Large vehicles plateaued below 21 mpg since 2000.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680960" y="502920"/>
            <a:ext cx="1005840" cy="41148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680960" y="5029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— INSIGHTS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 — Tasks 1 to 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TASK 1: Popularity by Market 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57200" y="1508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Popularity Score by Top Category: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1737360" y="1783080"/>
            <a:ext cx="2537460" cy="219456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457200" y="180136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Exotic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320540" y="18013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1,480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737360" y="2103120"/>
            <a:ext cx="2455164" cy="219456"/>
          </a:xfrm>
          <a:prstGeom prst="rect">
            <a:avLst/>
          </a:prstGeom>
          <a:solidFill>
            <a:srgbClr val="0E9E8E">
              <a:alpha val="85098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57200" y="212140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Factory Tuner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238244" y="21214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1,432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737360" y="2423160"/>
            <a:ext cx="2417445" cy="219456"/>
          </a:xfrm>
          <a:prstGeom prst="rect">
            <a:avLst/>
          </a:pr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457200" y="244144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200525" y="24414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1,410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1737360" y="2743200"/>
            <a:ext cx="2091690" cy="219456"/>
          </a:xfrm>
          <a:prstGeom prst="rect">
            <a:avLst/>
          </a:prstGeom>
          <a:solidFill>
            <a:srgbClr val="0E9E8E">
              <a:alpha val="54901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57200" y="276148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Luxury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874770" y="27614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1,220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737360" y="3063240"/>
            <a:ext cx="1800225" cy="219456"/>
          </a:xfrm>
          <a:prstGeom prst="rect">
            <a:avLst/>
          </a:prstGeom>
          <a:solidFill>
            <a:srgbClr val="0E9E8E">
              <a:alpha val="40000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457200" y="308152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Crossover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583305" y="30815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1,050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389120" y="1097280"/>
            <a:ext cx="36576" cy="384048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TASK 2: Engine HP vs MSRP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572000" y="1508760"/>
            <a:ext cx="1783080" cy="9144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4572000" y="1508760"/>
            <a:ext cx="54864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709160" y="158191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= 0.78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709160" y="203911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Pearson correlation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492240" y="1508760"/>
            <a:ext cx="1691640" cy="9144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492240" y="1508760"/>
            <a:ext cx="54864" cy="9144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6629400" y="158191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+$130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629400" y="203911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additional HP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4572000" y="25146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positive relationship confirmed. Engine HP is the single strongest numerical predictor of MSRP across all 48 brands.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572000" y="3063240"/>
            <a:ext cx="4114800" cy="36576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572000" y="3154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TASK 3: Feature Importance (Regression)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572000" y="3520440"/>
            <a:ext cx="1920240" cy="4572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152" y="36118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4892040" y="35570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is_exotic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892040" y="37398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+$42,300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572000" y="4069080"/>
            <a:ext cx="1920240" cy="4572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152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0"/>
          <p:cNvSpPr/>
          <p:nvPr/>
        </p:nvSpPr>
        <p:spPr>
          <a:xfrm>
            <a:off x="4892040" y="41056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engine_hp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892040" y="428853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+$18,500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675120" y="3520440"/>
            <a:ext cx="1920240" cy="4572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8272" y="36118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0"/>
          <p:cNvSpPr/>
          <p:nvPr/>
        </p:nvSpPr>
        <p:spPr>
          <a:xfrm>
            <a:off x="6995160" y="35570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is_luxury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995160" y="37398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+$14,200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675120" y="4069080"/>
            <a:ext cx="1920240" cy="4572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272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/>
          <p:nvPr/>
        </p:nvSpPr>
        <p:spPr>
          <a:xfrm>
            <a:off x="6995160" y="41056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city_mpg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995160" y="428853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–$5,800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— INSIGHTS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 — Tasks 4 to 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TASK 4: Average MSRP by Manufacturer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57200" y="1371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5 Brands (Avg MSRP):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828800" y="1627632"/>
            <a:ext cx="4114800" cy="274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457200" y="164592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Bugatti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035040" y="16459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$1750k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828800" y="2011680"/>
            <a:ext cx="3474720" cy="274320"/>
          </a:xfrm>
          <a:prstGeom prst="rect">
            <a:avLst/>
          </a:prstGeom>
          <a:solidFill>
            <a:srgbClr val="F59E0B">
              <a:alpha val="87843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457200" y="20299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Maybach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5394960" y="20299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$357k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828800" y="2395728"/>
            <a:ext cx="3017520" cy="274320"/>
          </a:xfrm>
          <a:prstGeom prst="rect">
            <a:avLst/>
          </a:prstGeom>
          <a:solidFill>
            <a:srgbClr val="F59E0B">
              <a:alpha val="7607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457200" y="241401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Rolls-Royce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4937760" y="241401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$285k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828800" y="2779776"/>
            <a:ext cx="2560320" cy="274320"/>
          </a:xfrm>
          <a:prstGeom prst="rect">
            <a:avLst/>
          </a:prstGeom>
          <a:solidFill>
            <a:srgbClr val="F59E0B">
              <a:alpha val="6392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457200" y="279806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Lamborghini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480560" y="2798064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$201k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828800" y="3163824"/>
            <a:ext cx="2286000" cy="274320"/>
          </a:xfrm>
          <a:prstGeom prst="rect">
            <a:avLst/>
          </a:prstGeom>
          <a:solidFill>
            <a:srgbClr val="F59E0B">
              <a:alpha val="5215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57200" y="318211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Bentley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206240" y="318211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$187k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57200" y="3657600"/>
            <a:ext cx="4572000" cy="6858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594360" y="373075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Luxury tier brands command 5–85× the price of budget brands. The top 10 brands average $215k vs $14k for the bottom 10.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120640" y="1005840"/>
            <a:ext cx="36576" cy="36576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5303520" y="1051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TASK 5: Cylinders vs Fuel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5559552" y="126187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5532120" y="14630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34mpg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6016752" y="153619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989320" y="17373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6473952" y="181051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6446520" y="20116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27mpg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931152" y="208483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6903720" y="22860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388352" y="245059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7360920" y="26517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7845552" y="290779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7818120" y="3108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302752" y="336499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>
              <a:alpha val="70196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275320" y="3566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12cyl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13mpg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577840" y="1371600"/>
            <a:ext cx="2926080" cy="36576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303520" y="3291840"/>
            <a:ext cx="1783080" cy="9144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303520" y="3291840"/>
            <a:ext cx="54864" cy="914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440680" y="33649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= −0.75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5440680" y="382219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Cylinders vs MPG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7223760" y="3291840"/>
            <a:ext cx="1463040" cy="9144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7223760" y="3291840"/>
            <a:ext cx="54864" cy="9144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360920" y="336499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−3.4 MPG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7360920" y="38221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extra cylinder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303520" y="43159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negative correlation confirmed between cylinder count and highway MPG — more power comes at a direct fuel cost.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— REGRESSION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Regression Analysis — Feature Importance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57200" y="1051560"/>
            <a:ext cx="1920240" cy="822960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45720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R² = 0.82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57200" y="14996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Variance explained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606040" y="1051560"/>
            <a:ext cx="1920240" cy="822960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260604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$6,240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2606040" y="14996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Mean Absolute Error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754880" y="1051560"/>
            <a:ext cx="1920240" cy="822960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475488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7C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7C2B"/>
                </a:solidFill>
                <a:latin typeface="Calibri"/>
                <a:ea typeface="Calibri"/>
                <a:cs typeface="Calibri"/>
                <a:sym typeface="Calibri"/>
              </a:rPr>
              <a:t>$9,810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754880" y="14996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903720" y="1051560"/>
            <a:ext cx="1920240" cy="822960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6903720" y="11155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903720" y="149961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5-fold CV R²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57200" y="2011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 Feature Coefficients (Standardised)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274320" y="24231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is_exotic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1764792" y="2414016"/>
            <a:ext cx="1728216" cy="2286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3538728" y="242316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+4.5k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274320" y="273405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is_luxury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764792" y="2724912"/>
            <a:ext cx="1497787" cy="2286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3308299" y="27340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+3.9k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274320" y="304495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engine_hp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764792" y="3035808"/>
            <a:ext cx="1305763" cy="2286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3116275" y="3044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+3.4k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274320" y="335584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is_performance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764792" y="3346704"/>
            <a:ext cx="1113739" cy="2286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2924251" y="335584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+2.9k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274320" y="366674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is_factory_tuner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1764792" y="3657600"/>
            <a:ext cx="691286" cy="2286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2501798" y="366674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+1.8k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74320" y="397764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city_mpg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188720" y="3968496"/>
            <a:ext cx="576072" cy="2286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1810512" y="39776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-1.5k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274320" y="428853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highway_mpg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265530" y="4279392"/>
            <a:ext cx="499262" cy="2286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1810512" y="42885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-1.3k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274320" y="45994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cylinders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419149" y="4590288"/>
            <a:ext cx="345643" cy="2286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1810512" y="459943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-0.9k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1764792" y="2331720"/>
            <a:ext cx="27432" cy="2514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627632" y="22860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5029200" y="1965960"/>
            <a:ext cx="3657600" cy="2926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5166360" y="2057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Model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7" name="Google Shape;4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360" y="240487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2"/>
          <p:cNvSpPr/>
          <p:nvPr/>
        </p:nvSpPr>
        <p:spPr>
          <a:xfrm>
            <a:off x="5394960" y="239572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18 features total (7 numeric, 11 binary encoded)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9" name="Google Shape;4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360" y="277063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2"/>
          <p:cNvSpPr/>
          <p:nvPr/>
        </p:nvSpPr>
        <p:spPr>
          <a:xfrm>
            <a:off x="5394960" y="27614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80/20 train-test split, random_state=42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1" name="Google Shape;4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360" y="3136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2"/>
          <p:cNvSpPr/>
          <p:nvPr/>
        </p:nvSpPr>
        <p:spPr>
          <a:xfrm>
            <a:off x="5394960" y="312724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StandardScaler applied before fitting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3" name="Google Shape;4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360" y="350215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2"/>
          <p:cNvSpPr/>
          <p:nvPr/>
        </p:nvSpPr>
        <p:spPr>
          <a:xfrm>
            <a:off x="5394960" y="34930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5-fold cross-validation for robustness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5166360" y="39319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5166360" y="420624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Market category flags (exotic, luxury, performance) contribute more to MSRP than raw engine specs — branding premium is real.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— SEGMENTATION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Market Segmentation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Price Tier Distribution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57200" y="1371600"/>
            <a:ext cx="3291840" cy="411480"/>
          </a:xfrm>
          <a:prstGeom prst="rect">
            <a:avLst/>
          </a:prstGeom>
          <a:solidFill>
            <a:srgbClr val="0E9E8E">
              <a:alpha val="85098"/>
            </a:srgbClr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566928" y="139903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Mid-Range  45%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457200" y="1901952"/>
            <a:ext cx="1682496" cy="411480"/>
          </a:xfrm>
          <a:prstGeom prst="rect">
            <a:avLst/>
          </a:prstGeom>
          <a:solidFill>
            <a:srgbClr val="27AE60">
              <a:alpha val="85098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566928" y="192938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Budget  23%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57200" y="2432304"/>
            <a:ext cx="1389888" cy="411480"/>
          </a:xfrm>
          <a:prstGeom prst="rect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566928" y="245973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Premium  19%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457200" y="2962656"/>
            <a:ext cx="804672" cy="411480"/>
          </a:xfrm>
          <a:prstGeom prst="rect">
            <a:avLst/>
          </a:prstGeom>
          <a:solidFill>
            <a:srgbClr val="E97C2B">
              <a:alpha val="85098"/>
            </a:srgbClr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66928" y="299008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Luxury  11%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457200" y="3493008"/>
            <a:ext cx="146304" cy="411480"/>
          </a:xfrm>
          <a:prstGeom prst="rect">
            <a:avLst/>
          </a:prstGeom>
          <a:solidFill>
            <a:srgbClr val="C0392B">
              <a:alpha val="85098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566928" y="352044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Ultra-Luxury  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4663440" y="1051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Brand Price Positioning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663440" y="137160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4663440" y="1371600"/>
            <a:ext cx="54864" cy="5943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4754880" y="14173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Ultra-Premium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4754880" y="16459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&gt;$200k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98932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Bugatti · Maybach · Rolls-Royce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4663440" y="205740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4663440" y="2057400"/>
            <a:ext cx="54864" cy="594360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4754880" y="21031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Luxury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4754880" y="23317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7C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97C2B"/>
                </a:solidFill>
                <a:latin typeface="Calibri"/>
                <a:ea typeface="Calibri"/>
                <a:cs typeface="Calibri"/>
                <a:sym typeface="Calibri"/>
              </a:rPr>
              <a:t>$100–200k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5989320" y="21031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Lamborghini · Bentley · Ferrari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4663440" y="274320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4663440" y="2743200"/>
            <a:ext cx="54864" cy="594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4754880" y="27889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4754880" y="30175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$40–100k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5989320" y="27889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Mercedes · BMW · Porsche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4663440" y="342900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4663440" y="3429000"/>
            <a:ext cx="54864" cy="59436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4754880" y="34747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Mid-Range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754880" y="37033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$20–40k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598932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Honda · Toyota · Ford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4663440" y="411480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4663440" y="4114800"/>
            <a:ext cx="54864" cy="59436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4754880" y="416052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754880" y="43891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&lt;$20k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5989320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Hyundai · Kia · Mitsubishi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4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—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Car_Analysis_Dashboard.xlsx — 7 sheets, 5 interactive charts, slicers ready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457200" y="1371600"/>
            <a:ext cx="4114800" cy="841248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548640" y="1572768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548640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987552" y="144475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Price by Brand &amp;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987552" y="1719072"/>
            <a:ext cx="1234440" cy="18288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987552" y="171907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Stacked Column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987552" y="1938528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MSRP stacked by vehicle style across all brands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457200" y="2304288"/>
            <a:ext cx="4114800" cy="841248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548640" y="250545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548640" y="25054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987552" y="237744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MSRP Ranking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987552" y="2651760"/>
            <a:ext cx="1234440" cy="18288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987552" y="265176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Clustered Column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987552" y="2871216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&amp; bottom 15 brands by avg price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457200" y="3236976"/>
            <a:ext cx="4114800" cy="841248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548640" y="3438144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548640" y="34381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987552" y="331012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Transmission 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987552" y="3584448"/>
            <a:ext cx="1234440" cy="18288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987552" y="358444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987552" y="3803904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Transmission type vs MSRP by body style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4800600" y="1371600"/>
            <a:ext cx="4114800" cy="841248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4892040" y="1572768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4892040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5330952" y="144475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MPG Fuel Efficiency Trend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5330952" y="1719072"/>
            <a:ext cx="1234440" cy="18288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5330952" y="171907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 Chart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5330952" y="1938528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Highway MPG over model years by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4800600" y="2304288"/>
            <a:ext cx="4114800" cy="841248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4892040" y="250545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4892040" y="25054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5330952" y="237744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 × MPG × Price Bubble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5330952" y="2651760"/>
            <a:ext cx="1234440" cy="182880"/>
          </a:xfrm>
          <a:prstGeom prst="rect">
            <a:avLst/>
          </a:prstGeom>
          <a:solidFill>
            <a:srgbClr val="0D7A6E"/>
          </a:solidFill>
          <a:ln cap="flat" cmpd="sng" w="12700">
            <a:solidFill>
              <a:srgbClr val="0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5330952" y="265176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Bubble Chart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5330952" y="2871216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HP (x), MPG (y), MSRP as bubble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4800600" y="3337560"/>
            <a:ext cx="4114800" cy="54864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4937760" y="34015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Slicer filters: make · vehicle_style · year · transmission_type · price_tier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5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457200" y="1051560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457200" y="1051560"/>
            <a:ext cx="54864" cy="117043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594360" y="1188720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2" name="Google Shape;6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5"/>
          <p:cNvSpPr/>
          <p:nvPr/>
        </p:nvSpPr>
        <p:spPr>
          <a:xfrm>
            <a:off x="1115568" y="11430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Engine HP is the #1 Numerical MSRP Predictor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1115568" y="1435608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Pearson r = 0.78. Each additional HP adds ~$130 to MSRP. The model explains 82% of price variance.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457200" y="2350008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457200" y="2350008"/>
            <a:ext cx="54864" cy="1170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594360" y="2487168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8" name="Google Shape;6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5328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5"/>
          <p:cNvSpPr/>
          <p:nvPr/>
        </p:nvSpPr>
        <p:spPr>
          <a:xfrm>
            <a:off x="1115568" y="244144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Market Category Beats Engine Specs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1115568" y="2734056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Exotic (+$42k), Luxury (+$14k), and Performance (+$12k) flags outweigh raw engine metrics in regression.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457200" y="3648456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457200" y="3648456"/>
            <a:ext cx="54864" cy="1170432"/>
          </a:xfrm>
          <a:prstGeom prst="rect">
            <a:avLst/>
          </a:pr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594360" y="3785616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7C2B"/>
          </a:solidFill>
          <a:ln cap="flat" cmpd="sng" w="12700">
            <a:solidFill>
              <a:srgbClr val="E97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83133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5"/>
          <p:cNvSpPr/>
          <p:nvPr/>
        </p:nvSpPr>
        <p:spPr>
          <a:xfrm>
            <a:off x="1115568" y="373989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Cylinders Negatively Predict Fuel Efficiency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1115568" y="4032504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 = −0.75. Each additional cylinder reduces highway MPG by ~3.4. More power = significantly lower efficiency.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4800600" y="1051560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4800600" y="1051560"/>
            <a:ext cx="54864" cy="117043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4937760" y="1188720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0" name="Google Shape;6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123444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5"/>
          <p:cNvSpPr/>
          <p:nvPr/>
        </p:nvSpPr>
        <p:spPr>
          <a:xfrm>
            <a:off x="5458968" y="11430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Mid-Range Segment Dominates the Market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5458968" y="1435608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45% of all models fall in the $20–40k bracket. Budget + Mid-Range = 68% of the total dataset.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4800600" y="2350008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4800600" y="2350008"/>
            <a:ext cx="54864" cy="1170432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4937760" y="2487168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6" name="Google Shape;6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3480" y="253288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5"/>
          <p:cNvSpPr/>
          <p:nvPr/>
        </p:nvSpPr>
        <p:spPr>
          <a:xfrm>
            <a:off x="5458968" y="244144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Luxury Brands Command 5–85× Price Premium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5458968" y="2734056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Top 10 brands avg $215k vs $14k for budget brands. Ultra-luxury (Bugatti avg $1.75M) are statistical outliers.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4800600" y="3648456"/>
            <a:ext cx="41148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4800600" y="3648456"/>
            <a:ext cx="54864" cy="11704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4937760" y="3785616"/>
            <a:ext cx="411480" cy="411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83480" y="383133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5"/>
          <p:cNvSpPr/>
          <p:nvPr/>
        </p:nvSpPr>
        <p:spPr>
          <a:xfrm>
            <a:off x="5458968" y="373989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Transmission &amp; Drive Type Influence 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5458968" y="4032504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AUTOMATED_MANUAL and DIRECT_DRIVE command the highest MSRPs. AWD/RWD vehicles are 1.4× pricier than FWD.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6"/>
          <p:cNvSpPr txBox="1"/>
          <p:nvPr/>
        </p:nvSpPr>
        <p:spPr>
          <a:xfrm>
            <a:off x="1061850" y="1086450"/>
            <a:ext cx="7020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500"/>
              <a:buFont typeface="Merriweather Black"/>
              <a:buChar char="❏"/>
            </a:pPr>
            <a:r>
              <a:rPr lang="en-US" sz="2500" u="sng">
                <a:solidFill>
                  <a:schemeClr val="hlink"/>
                </a:solidFill>
                <a:latin typeface="Merriweather Black"/>
                <a:ea typeface="Merriweather Black"/>
                <a:cs typeface="Merriweather Black"/>
                <a:sym typeface="Merriweather Black"/>
                <a:hlinkClick/>
              </a:rPr>
              <a:t>Presentation Link for project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500"/>
              <a:buFont typeface="Merriweather Black"/>
              <a:buChar char="❏"/>
            </a:pPr>
            <a:r>
              <a:rPr lang="en-US" sz="2500" u="sng">
                <a:solidFill>
                  <a:schemeClr val="hlink"/>
                </a:solidFill>
                <a:latin typeface="Merriweather Black"/>
                <a:ea typeface="Merriweather Black"/>
                <a:cs typeface="Merriweather Black"/>
                <a:sym typeface="Merriweather Black"/>
                <a:hlinkClick r:id="rId3"/>
              </a:rPr>
              <a:t>Link for GOOGLE Sheets</a:t>
            </a:r>
            <a:endParaRPr sz="2500">
              <a:solidFill>
                <a:schemeClr val="dk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500"/>
              <a:buFont typeface="Merriweather Black"/>
              <a:buChar char="❏"/>
            </a:pPr>
            <a:r>
              <a:rPr lang="en-US" sz="2500" u="sng">
                <a:solidFill>
                  <a:schemeClr val="hlink"/>
                </a:solidFill>
                <a:latin typeface="Merriweather Black"/>
                <a:ea typeface="Merriweather Black"/>
                <a:cs typeface="Merriweather Black"/>
                <a:sym typeface="Merriweather Black"/>
                <a:hlinkClick r:id="rId4"/>
              </a:rPr>
              <a:t>Raw Data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7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162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7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7"/>
          <p:cNvSpPr/>
          <p:nvPr/>
        </p:nvSpPr>
        <p:spPr>
          <a:xfrm>
            <a:off x="365760" y="292608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 Features &amp;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Profitability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65760" y="3794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Pipeline · SQL · Python · Excel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4572000" y="6400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8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E9E8E"/>
                </a:solidFill>
                <a:latin typeface="Calibri"/>
                <a:ea typeface="Calibri"/>
                <a:cs typeface="Calibri"/>
                <a:sym typeface="Calibri"/>
              </a:rPr>
              <a:t>Project Deliverables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4572000" y="1188720"/>
            <a:ext cx="4114800" cy="62179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4572000" y="1188720"/>
            <a:ext cx="54864" cy="62179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4" name="Google Shape;6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298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7"/>
          <p:cNvSpPr/>
          <p:nvPr/>
        </p:nvSpPr>
        <p:spPr>
          <a:xfrm>
            <a:off x="5029200" y="123444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SQL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5029200" y="148132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Schema · Cleaning · EDA · Business Insights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4572000" y="1920240"/>
            <a:ext cx="4114800" cy="62179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4572000" y="1920240"/>
            <a:ext cx="54864" cy="62179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9" name="Google Shape;6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2029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7"/>
          <p:cNvSpPr/>
          <p:nvPr/>
        </p:nvSpPr>
        <p:spPr>
          <a:xfrm>
            <a:off x="5029200" y="196596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Python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5029200" y="221284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Cleaning · EDA · Regression · Segmentation · Correlation ·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4572000" y="2651760"/>
            <a:ext cx="4114800" cy="62179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4572000" y="2651760"/>
            <a:ext cx="54864" cy="62179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9160" y="2761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7"/>
          <p:cNvSpPr/>
          <p:nvPr/>
        </p:nvSpPr>
        <p:spPr>
          <a:xfrm>
            <a:off x="5029200" y="269748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22+ 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5029200" y="294436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Distributions · Correlations · Feature Importance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4572000" y="3383280"/>
            <a:ext cx="4114800" cy="62179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4572000" y="3383280"/>
            <a:ext cx="54864" cy="62179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9" name="Google Shape;6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9160" y="34930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7"/>
          <p:cNvSpPr/>
          <p:nvPr/>
        </p:nvSpPr>
        <p:spPr>
          <a:xfrm>
            <a:off x="5029200" y="34290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5029200" y="36758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chart types · 7 sheets · slicer-ready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572000" y="4114800"/>
            <a:ext cx="4114800" cy="621792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1E34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4572000" y="4114800"/>
            <a:ext cx="54864" cy="621792"/>
          </a:xfrm>
          <a:prstGeom prst="rect">
            <a:avLst/>
          </a:prstGeom>
          <a:solidFill>
            <a:srgbClr val="0E9E8E"/>
          </a:solidFill>
          <a:ln cap="flat" cmpd="sng" w="12700">
            <a:solidFill>
              <a:srgbClr val="0E9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4" name="Google Shape;67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9160" y="42245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17"/>
          <p:cNvSpPr/>
          <p:nvPr/>
        </p:nvSpPr>
        <p:spPr>
          <a:xfrm>
            <a:off x="5029200" y="416052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PDF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5029200" y="440740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presentation + full 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